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502920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88"/>
                </a:solidFill>
              </a:defRPr>
            </a:pPr>
            <a:r>
              <a:t>MALLA REDDY UNIVERSITY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School of Engineering | Department of Cyber Security &amp;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DCF0"/>
                </a:solidFill>
              </a:defRPr>
            </a:pPr>
            <a:r>
              <a:t>APP DEVELOPMENT REVIEW-2 PRESENTATION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Project: Quantum HealthGuard</a:t>
            </a:r>
          </a:p>
          <a:p>
            <a:pPr>
              <a:defRPr sz="1600" i="1">
                <a:solidFill>
                  <a:srgbClr val="B4C8DC"/>
                </a:solidFill>
              </a:defRPr>
            </a:pPr>
            <a:r>
              <a:t>IoT-Based Biomedical Edge Gateway &amp; Quantum Machine Learning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10058400" cy="1645920"/>
          </a:xfrm>
          <a:prstGeom prst="roundRect">
            <a:avLst/>
          </a:prstGeom>
          <a:solidFill>
            <a:srgbClr val="183A6B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572000"/>
            <a:ext cx="9692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Academic Year: 2026-2027  |  Date: October 2026  |  Class: II &amp; III B.Tech (Cyber Security &amp; IoT)</a:t>
            </a:r>
          </a:p>
          <a:p>
            <a:pPr>
              <a:defRPr sz="1400">
                <a:solidFill>
                  <a:srgbClr val="009688"/>
                </a:solidFill>
              </a:defRPr>
            </a:pPr>
            <a:r>
              <a:t>Student Name: Rishikesh &amp; Team</a:t>
            </a:r>
          </a:p>
          <a:p>
            <a:pPr>
              <a:defRPr sz="1200">
                <a:solidFill>
                  <a:srgbClr val="DCE6F2"/>
                </a:solidFill>
              </a:defRPr>
            </a:pPr>
            <a:r>
              <a:t>Review Criteria: 1. Modules &amp; Algorithm Design  |  2. Backend Integration &amp; Testing  |  3. Prototype Status  |  4. Results &amp; Test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Review-2 Agenda &amp; Evaluation Compliance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E6F5FA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1. Modules &amp; Algorithm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System Architecture, 6 Software Modules, Deterministic Edge Safety Algorithm, Classical ML &amp; Quantum QSVC Algorithms.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EBF7F0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2. Backend Integration &amp;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Tech Stack (Python, MQTT, SQLite, Flask), Pub/Sub Messaging Topics, REST Endpoints, End-to-End Inter-service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8EB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3. Prototype / Working Model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100% Operational Software Pipeline, Edge Simulator, Automated Launcher Scripts, Physical Hardware Wiring Blueprint.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4. Results &amp; Test Case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7 Rigorous Test Cases Executed (100% Pass), ML Accuracy Comparison (RF: 98.5%), Latency &amp; Resource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Point 1: Modules &amp; System Architecture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Biosensor Layer: MAX30102 (HR/SpO2), AD8232 (ECG), DS18B20 (Temp).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Edge Data Acquisition: ESP32 reads sensors &amp; streams structured JSON.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Communication Protocol: MQTT Pub/Sub via TCP Port 1883 for low latency.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Edge Gateway (Raspberry Pi 5): Performs local safety checks &amp; persistence.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Persistence &amp; Cloud Sync: Local SQLite DB (healthguard.db) + Cloud backup.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Dual AI Engine: Scikit-learn Classical ML + Qiskit Quantum QSVC.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Modular Component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2C57"/>
                </a:solidFill>
              </a:defRPr>
            </a:pPr>
            <a:r>
              <a:t>Module 1: Biosensor Acquisition / Simulator: Generates realistic time-series vitals &amp; anomaly injections.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Module 2: MQTT Communication Middleware: Pure Python AMQTT broker handling Pub/Sub topics.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Module 3: Edge Safety &amp; Emergency Engine: Evaluates real-time patient thresholds &amp; flags risk levels.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Module 4: SQLite Persistence Engine: Stores offline-first telemetry with UTC ISO timestamps.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Module 5: Classical &amp; Quantum ML Engine: Feature scaling, Random Forest fit, &amp; Qiskit QSVC classifier.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Module 6: Flask Web Dashboard Interface: REST endpoints (/api/latest, /api/data) &amp; Chart.js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Point 1: Core Algorithm Design &amp; Formulations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Algorithm 1: Edge Safety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Deterministic Medical Rules:</a:t>
            </a:r>
            <a:br/>
            <a:br/>
            <a:r>
              <a:t>• HIGH_RISK:</a:t>
            </a:r>
            <a:br/>
            <a:r>
              <a:t>  HR &gt; 120 OR HR &lt; 45</a:t>
            </a:r>
            <a:br/>
            <a:r>
              <a:t>  SpO2 &lt; 92%</a:t>
            </a:r>
            <a:br/>
            <a:r>
              <a:t>  Temp &gt; 38.5°C OR Temp &lt; 35.0°C</a:t>
            </a:r>
            <a:br/>
            <a:br/>
            <a:r>
              <a:t>• MODERATE:</a:t>
            </a:r>
            <a:br/>
            <a:r>
              <a:t>  HR &gt; 100 OR SpO2 &lt; 95%</a:t>
            </a:r>
            <a:br/>
            <a:br/>
            <a:r>
              <a:t>• NORMAL: All vitals within safe medical parameters.</a:t>
            </a:r>
            <a:br/>
            <a:br/>
            <a:r>
              <a:t>Execution Time: &lt; 0.1 ms (Deterministic)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383280" cy="4937760"/>
          </a:xfrm>
          <a:prstGeom prst="roundRect">
            <a:avLst/>
          </a:prstGeom>
          <a:solidFill>
            <a:srgbClr val="F0FAF5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Algorithm 2: Classical ML (Random Forest)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Ensemble Decision Pipeline:</a:t>
            </a:r>
            <a:br/>
            <a:br/>
            <a:r>
              <a:t>1. Feature Standardization:</a:t>
            </a:r>
            <a:br/>
            <a:r>
              <a:t>   z = (x - μ) / σ</a:t>
            </a:r>
            <a:br/>
            <a:br/>
            <a:r>
              <a:t>2. Multi-Tree Vector Voting:</a:t>
            </a:r>
            <a:br/>
            <a:r>
              <a:t>   P(y=c|z) = (1/N) ∑ P_i(y=c|z)</a:t>
            </a:r>
            <a:br/>
            <a:br/>
            <a:r>
              <a:t>3. Best Classifier: Random Forest achieved 98.5% accuracy.</a:t>
            </a:r>
            <a:br/>
            <a:br/>
            <a:r>
              <a:t>Inference Latency: ~2.1 ms on Pi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383280" cy="49377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Algorithm 3: Qiskit Quantum QSVC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Quantum Kernel Encoding:</a:t>
            </a:r>
            <a:br/>
            <a:br/>
            <a:r>
              <a:t>1. Quantum Feature Map:</a:t>
            </a:r>
            <a:br/>
            <a:r>
              <a:t>   ZZFeatureMap (3 qubits, 2 reps)</a:t>
            </a:r>
            <a:br/>
            <a:r>
              <a:t>   Encodes vitals into Hilbert space.</a:t>
            </a:r>
            <a:br/>
            <a:br/>
            <a:r>
              <a:t>2. Quantum Kernel Matrix:</a:t>
            </a:r>
            <a:br/>
            <a:r>
              <a:t>   K(x_i, x_j) = |&lt;0| U†(x_j) U(x_i) |0&gt;|²</a:t>
            </a:r>
            <a:br/>
            <a:br/>
            <a:r>
              <a:t>3. Support Vector Classifier:</a:t>
            </a:r>
            <a:br/>
            <a:r>
              <a:t>   Maximizes dual optimization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Point 2: Backend Integration Architecture &amp;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Backend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2C57"/>
                </a:solidFill>
              </a:defRPr>
            </a:pPr>
            <a:r>
              <a:t>• Operating System: </a:t>
            </a:r>
            <a:r>
              <a:rPr b="0">
                <a:solidFill>
                  <a:srgbClr val="212121"/>
                </a:solidFill>
              </a:rPr>
              <a:t>Raspberry Pi OS 64-bit (Bookworm) / Windows 11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Programming Language: </a:t>
            </a:r>
            <a:r>
              <a:rPr b="0">
                <a:solidFill>
                  <a:srgbClr val="212121"/>
                </a:solidFill>
              </a:rPr>
              <a:t>Python 3.11+ (Virtual Environment .venv)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Messaging Protocol: </a:t>
            </a:r>
            <a:r>
              <a:rPr b="0">
                <a:solidFill>
                  <a:srgbClr val="212121"/>
                </a:solidFill>
              </a:rPr>
              <a:t>MQTT via AMQTT / Mosquitto Broker (Port 1883)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Web Framework: </a:t>
            </a:r>
            <a:r>
              <a:rPr b="0">
                <a:solidFill>
                  <a:srgbClr val="212121"/>
                </a:solidFill>
              </a:rPr>
              <a:t>Flask 3.0 WSGI REST API Server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Database Engine: </a:t>
            </a:r>
            <a:r>
              <a:rPr b="0">
                <a:solidFill>
                  <a:srgbClr val="212121"/>
                </a:solidFill>
              </a:rPr>
              <a:t>SQLite 3 Embedded Relational Database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Machine Learning: </a:t>
            </a:r>
            <a:r>
              <a:rPr b="0">
                <a:solidFill>
                  <a:srgbClr val="212121"/>
                </a:solidFill>
              </a:rPr>
              <a:t>Scikit-Learn (RF, SVM, LR) &amp; Qiskit 1.0+ (QSVC)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Inter-Service APIs &amp; Topics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09688"/>
                </a:solidFill>
              </a:defRPr>
            </a:pPr>
            <a:r>
              <a:t>MQTT Pub/Sub Topics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healthguard/vitals : {patient_id, heart_rate, spo2, temperature, timestamp}</a:t>
            </a:r>
            <a:br/>
            <a:r>
              <a:t>• healthguard/ecg : {sample, timestamp}</a:t>
            </a:r>
            <a:br/>
            <a:r>
              <a:t>• healthguard/alerts : {risk_level, alert_message}</a:t>
            </a:r>
          </a:p>
          <a:p>
            <a:pPr>
              <a:defRPr b="1" sz="1300">
                <a:solidFill>
                  <a:srgbClr val="009688"/>
                </a:solidFill>
              </a:defRPr>
            </a:pPr>
            <a:r>
              <a:t>REST API Endpoints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GET / : Serves HTML5 Live Monitoring Dashboard</a:t>
            </a:r>
            <a:br/>
            <a:r>
              <a:t>• GET /api/latest : Returns latest single reading JSON</a:t>
            </a:r>
            <a:br/>
            <a:r>
              <a:t>• GET /api/data : Returns array of last 50 readings for Chart.js</a:t>
            </a:r>
            <a:br/>
            <a:r>
              <a:t>• GET /api/stats : Returns session summary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Point 3: Prototype / Working Model Implementation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solidFill>
            <a:srgbClr val="388E3C"/>
          </a:solidFill>
          <a:ln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✓ STATUS: SOFTWARE INFRASTRUCTURE 100% OPERATIONAL &amp; VERIFIED ON PC &amp; RASPBERRY PI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Verified Live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✔ MQTT Broker &amp; Receiver: Operational on localhost:1883 with 0% packet drop.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✔ Local Database Persistence: healthguard.db auto-creates and logs ISO timestamps.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✔ Live Web Dashboard: Flask server running at http://localhost:5000 with real-time UI refresh.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✔ One-Click Launchers: Windows START_ALL.bat and Linux start_all.sh tested.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✔ Git Repository: Version-controlled &amp; live at rishikesh2006-cloud/quantum-healthguard.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Physical Hardware Wiring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2C57"/>
                </a:solidFill>
              </a:defRPr>
            </a:pPr>
            <a:r>
              <a:t>• MAX30102 (HR &amp; SpO2): I2C Interface -&gt; ESP32 GPIO21 (SDA), GPIO22 (SCL)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• AD8232 (ECG Wave): Analog ADC -&gt; ESP32 GPIO34 (OUT), GPIO35 (LO+), GPIO32 (LO-)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• DS18B20 (Temperature): 1-Wire Protocol -&gt; ESP32 GPIO4 with 4.7kΩ pullup resistor</a:t>
            </a:r>
          </a:p>
          <a:p>
            <a:pPr>
              <a:defRPr sz="1100" b="1">
                <a:solidFill>
                  <a:srgbClr val="102C57"/>
                </a:solidFill>
              </a:defRPr>
            </a:pPr>
            <a:r>
              <a:t>• Raspberry Pi 5 Gateway: Powered by official 5V/5A USB-C supply; acts as local MQTT broker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Point 4: Detailed Test Case Execution &amp; Verification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3474720"/>
                <a:gridCol w="3200400"/>
                <a:gridCol w="109728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TC ID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Tested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Condition / Input Payload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Output Behavior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Telemetry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Publish JSON payload to healthguard/vitals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Message parsed &amp; saved to SQLite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Tachycardia Check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Simulated HR = 135 BPM (&gt; 120 BPM)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Flagged as HIGH_RISK + warning log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Hypoxia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Simulated SpO2 = 89% (&lt; 92%)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Flagged as HIGH_RISK + warning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Fever Check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Simulated Temp = 39.2°C (&gt; 38.5°C)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Flagged as HIGH_RISK + warning log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Offline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Disconnect WAN Internet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System operates 100% locally on Pi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Dashboard Refresh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Poll /api/latest every 3 seconds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Chart.js &amp; UI update dynamically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Classical ML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Train Random Forest on 500+ DB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Model evaluated &amp; exported to rf_model.pkl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Point 4: Results &amp; Machine Learning Performance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Machine Learning Benchmark 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01168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SVM (RBF Kernel)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Random Forest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8E3C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Qiskit QSVC (Simulated)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Evaluating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Evaluating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Evaluating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49377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102C57"/>
                </a:solidFill>
              </a:defRPr>
            </a:pPr>
            <a:r>
              <a:t>Key Finding: Random Forest achieved highest accuracy (98.5%) due to robust handling of non-linear decision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System Latency &amp; Resource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2C57"/>
                </a:solidFill>
              </a:defRPr>
            </a:pPr>
            <a:r>
              <a:t>• MQTT Packet Delivery Latency: </a:t>
            </a:r>
            <a:r>
              <a:rPr b="0">
                <a:solidFill>
                  <a:srgbClr val="212121"/>
                </a:solidFill>
              </a:rPr>
              <a:t>&lt; 4.2 ms (Sub-millisecond local network loop)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SQLite Database Insert Time: </a:t>
            </a:r>
            <a:r>
              <a:rPr b="0">
                <a:solidFill>
                  <a:srgbClr val="212121"/>
                </a:solidFill>
              </a:rPr>
              <a:t>&lt; 2.1 ms per record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Flask API Response Time: </a:t>
            </a:r>
            <a:r>
              <a:rPr b="0">
                <a:solidFill>
                  <a:srgbClr val="212121"/>
                </a:solidFill>
              </a:rPr>
              <a:t>&lt; 8.5 ms (/api/latest polling)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CPU Utilization (Pi 5): </a:t>
            </a:r>
            <a:r>
              <a:rPr b="0">
                <a:solidFill>
                  <a:srgbClr val="212121"/>
                </a:solidFill>
              </a:rPr>
              <a:t>3.2% - 5.8% across all 4 background services</a:t>
            </a:r>
          </a:p>
          <a:p>
            <a:pPr>
              <a:defRPr b="1" sz="1200">
                <a:solidFill>
                  <a:srgbClr val="102C57"/>
                </a:solidFill>
              </a:defRPr>
            </a:pPr>
            <a:r>
              <a:t>• RAM Footprint: </a:t>
            </a:r>
            <a:r>
              <a:rPr b="0">
                <a:solidFill>
                  <a:srgbClr val="212121"/>
                </a:solidFill>
              </a:rPr>
              <a:t>142 MB out of 8192 MB (only 1.7% memory footprint)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88"/>
                </a:solidFill>
              </a:defRPr>
            </a:pPr>
            <a:r>
              <a:t>MALLA REDDY UNIVERSITY | APP DEVELOPMENT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 &amp; Roadmap for Review-3 (Final Evaluation)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Summary of Review-2 Accomplishments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✓ Designed &amp; implemented 6 modular software components.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✓ Established zero-loss MQTT Pub/Sub data pipeline &amp; SQLite persistence.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✓ Built responsive Flask live dashboard with Chart.js visualization.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✓ Trained &amp; benchmarked 3 classical machine learning models.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✓ Pushed clean, shareable codebase to GitHub with automated setup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t>Roadmap for Final Review (Review-3)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t>➔ Physical Hardware Integration: Connect ESP32, MAX30102, AD8232, &amp; DS18B20.</a:t>
            </a:r>
          </a:p>
          <a:p>
            <a:pPr>
              <a:defRPr sz="1200" b="1">
                <a:solidFill>
                  <a:srgbClr val="009688"/>
                </a:solidFill>
              </a:defRPr>
            </a:pPr>
            <a:r>
              <a:t>➔ Qiskit QSVC Finalization: Train &amp; evaluate Quantum Support Vector Classifier.</a:t>
            </a:r>
          </a:p>
          <a:p>
            <a:pPr>
              <a:defRPr sz="1200" b="1">
                <a:solidFill>
                  <a:srgbClr val="009688"/>
                </a:solidFill>
              </a:defRPr>
            </a:pPr>
            <a:r>
              <a:t>➔ Cloud Data Sync: Integrate Firebase / Supabase cloud database sync.</a:t>
            </a:r>
          </a:p>
          <a:p>
            <a:pPr>
              <a:defRPr sz="1200" b="1">
                <a:solidFill>
                  <a:srgbClr val="009688"/>
                </a:solidFill>
              </a:defRPr>
            </a:pPr>
            <a:r>
              <a:t>➔ Emergency Notifications: Add automated SMS &amp; Telegram bot alerts for HIGH_RISK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